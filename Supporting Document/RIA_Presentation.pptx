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72" r:id="rId9"/>
    <p:sldId id="262" r:id="rId10"/>
    <p:sldId id="263" r:id="rId11"/>
    <p:sldId id="264" r:id="rId12"/>
    <p:sldId id="265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4149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10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mailto:Gokulssv@yahoo.com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9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914400"/>
            <a:ext cx="3840480" cy="384048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315200" y="1828800"/>
            <a:ext cx="2560320" cy="2560320"/>
          </a:xfrm>
          <a:prstGeom prst="ellipse">
            <a:avLst/>
          </a:prstGeom>
          <a:solidFill>
            <a:srgbClr val="0F8B8D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321040" y="3474720"/>
            <a:ext cx="1463040" cy="1463040"/>
          </a:xfrm>
          <a:prstGeom prst="ellipse">
            <a:avLst/>
          </a:prstGeom>
          <a:solidFill>
            <a:srgbClr val="0A6B6D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0" b="1" dirty="0">
                <a:solidFill>
                  <a:srgbClr val="0F8B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RIA</a:t>
            </a:r>
            <a:endParaRPr lang="en-US" sz="82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Intelligence Agent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235000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Control Tower for Microsoft Dynamics 365 Business Central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2971800"/>
            <a:ext cx="1828800" cy="36576"/>
          </a:xfrm>
          <a:prstGeom prst="rect">
            <a:avLst/>
          </a:prstGeom>
          <a:solidFill>
            <a:srgbClr val="0F8B8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310896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Gokulnath Sundaramoorthy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347472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Lead Consultant — Microsoft Dynamics 365 Business Central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7856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 · 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3337560" cy="5143500"/>
          </a:xfrm>
          <a:prstGeom prst="rect">
            <a:avLst/>
          </a:prstGeom>
          <a:solidFill>
            <a:srgbClr val="18293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APP?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84048" y="77724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ERP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Gap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84048" y="1938528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Central captures every transaction — yet answers none of the critical questions facing your CFO, Controller or Audit Director.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84048" y="268833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built to answer them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39312" y="402336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8B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187952" y="42062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Surfaces Too Late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187952" y="731520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discrepancies, control exceptions and approval gaps are discovered months after the business impact has occurred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39312" y="1261872"/>
            <a:ext cx="51663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639312" y="1316736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8B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187952" y="133502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Readiness Gaps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187952" y="1645920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predictive view of the control environment's health — until the review team is already at the table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39312" y="2176272"/>
            <a:ext cx="51663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639312" y="2231136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8B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187952" y="224942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System Drift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187952" y="2560320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ERP configuration change can silently affect thousands of subsequent transactions with no detection mechanism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39312" y="3090672"/>
            <a:ext cx="51663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639312" y="3145536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8B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187952" y="316382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Financial Operations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187952" y="3474720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provisions, margin erosion and compliance exposures are consistently confirmed only after the fact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39312" y="4005072"/>
            <a:ext cx="51663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639312" y="4059936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8B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187952" y="407822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Forward-Looking Visibility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187952" y="4389120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Central records every transaction but provides no predictive intelligence on emerging financial risk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91947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Gokulnath Sundaramoorthy  ·  Microsoft Dynamics 365 Business Central Solution Architect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RIA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30936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Control Tower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15214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· AI-Powered · Continuously Monitoring · Business Central-Native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8B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RIA?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3657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RIA transforms Microsoft Dynamics 365 Business Central from a passive transaction processor into an active, five-layer intelligence platform — monitoring financial integrity, operational performance, regulatory compliance and strategic risk continuously.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9809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8B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Designed For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3310128"/>
            <a:ext cx="118872" cy="11887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04088" y="3282696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&amp; Finance Directors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3630168"/>
            <a:ext cx="118872" cy="11887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04088" y="3602736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Controllers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950208"/>
            <a:ext cx="118872" cy="11887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04088" y="3922776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Audit Teams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4270248"/>
            <a:ext cx="118872" cy="11887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04088" y="4242816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&amp; Supply Chain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4590288"/>
            <a:ext cx="118872" cy="11887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04088" y="4562856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 System Administrators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480560" y="1426464"/>
            <a:ext cx="4315968" cy="3310128"/>
          </a:xfrm>
          <a:prstGeom prst="roundRect">
            <a:avLst>
              <a:gd name="adj" fmla="val 3867"/>
            </a:avLst>
          </a:prstGeom>
          <a:solidFill>
            <a:srgbClr val="E8F7F7"/>
          </a:solidFill>
          <a:ln w="12700">
            <a:solidFill>
              <a:srgbClr val="C5E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626864" y="15179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6B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Intelligence Layers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26864" y="1892808"/>
            <a:ext cx="4041648" cy="457200"/>
          </a:xfrm>
          <a:prstGeom prst="roundRect">
            <a:avLst>
              <a:gd name="adj" fmla="val 14000"/>
            </a:avLst>
          </a:prstGeom>
          <a:solidFill>
            <a:srgbClr val="18293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736592" y="1901952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 Transaction Intelligence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36592" y="213969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controls · Finance, AP, AR, Inventory, Mfg, Projects, FA, Master Data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26864" y="2441448"/>
            <a:ext cx="4041648" cy="457200"/>
          </a:xfrm>
          <a:prstGeom prst="roundRect">
            <a:avLst>
              <a:gd name="adj" fmla="val 14000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736592" y="2450592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 Process Intelligence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36592" y="268833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· Q2C · R2R · Plan-to-Produce · Intercompany · Project-to-Cash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626864" y="2990088"/>
            <a:ext cx="4041648" cy="457200"/>
          </a:xfrm>
          <a:prstGeom prst="roundRect">
            <a:avLst>
              <a:gd name="adj" fmla="val 14000"/>
            </a:avLst>
          </a:prstGeom>
          <a:solidFill>
            <a:srgbClr val="1A4A7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736592" y="2999232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 Configuration Intelligence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36592" y="323697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Setup · Approvals · SoD · Number Series · Change Log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26864" y="3538728"/>
            <a:ext cx="4041648" cy="457200"/>
          </a:xfrm>
          <a:prstGeom prst="roundRect">
            <a:avLst>
              <a:gd name="adj" fmla="val 14000"/>
            </a:avLst>
          </a:prstGeom>
          <a:solidFill>
            <a:srgbClr val="0A6B6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736592" y="3547872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 External Market Intelligence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36592" y="378561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movements · Supplier health · Customer signals · Regulatory updates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26864" y="4087368"/>
            <a:ext cx="4041648" cy="457200"/>
          </a:xfrm>
          <a:prstGeom prst="roundRect">
            <a:avLst>
              <a:gd name="adj" fmla="val 14000"/>
            </a:avLst>
          </a:prstGeom>
          <a:solidFill>
            <a:srgbClr val="0F8B8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736592" y="4096512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  Predictive Risk Intelligence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36592" y="433425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 · Default probability · Inventory shortage · Margin trajectory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91947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Gokulnath Sundaramoorthy  ·  Microsoft Dynamics 365 Business Central Solution Architect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BENEFITS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30936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Measurable Business Value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15214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returns from early risk detection, audit efficiency and compliance confidence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426464"/>
            <a:ext cx="2651760" cy="1444752"/>
          </a:xfrm>
          <a:prstGeom prst="roundRect">
            <a:avLst>
              <a:gd name="adj" fmla="val 8861"/>
            </a:avLst>
          </a:prstGeom>
          <a:solidFill>
            <a:srgbClr val="18293F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67512" y="148132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0F8B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5×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67512" y="21488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ROI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7512" y="240487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return from risk detection, audit preparation savings and payment recovery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37560" y="1426464"/>
            <a:ext cx="2651760" cy="1444752"/>
          </a:xfrm>
          <a:prstGeom prst="roundRect">
            <a:avLst>
              <a:gd name="adj" fmla="val 8861"/>
            </a:avLst>
          </a:prstGeom>
          <a:solidFill>
            <a:srgbClr val="0A6B6D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502152" y="148132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0F8B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3502152" y="21488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Time Saved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02152" y="240487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time to prepare for external review through automated evidence packaging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72200" y="1426464"/>
            <a:ext cx="2651760" cy="1444752"/>
          </a:xfrm>
          <a:prstGeom prst="roundRect">
            <a:avLst>
              <a:gd name="adj" fmla="val 8861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336792" y="148132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0F8B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&gt;90%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6336792" y="21488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Recovery Rate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36792" y="240487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Detection-to-recovery rate vs. under 30% when exceptions surface late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3090672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67512" y="3218688"/>
            <a:ext cx="402336" cy="402336"/>
          </a:xfrm>
          <a:prstGeom prst="ellipse">
            <a:avLst/>
          </a:prstGeom>
          <a:solidFill>
            <a:srgbClr val="0F8B8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255264"/>
            <a:ext cx="310896" cy="31089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79576" y="320040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8B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649224" y="367588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Period Close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49224" y="393192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close checklists and exception management cut the cycle time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337560" y="3090672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3502152" y="3218688"/>
            <a:ext cx="402336" cy="40233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7872" y="3255264"/>
            <a:ext cx="310896" cy="310896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4014216" y="320040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24h</a:t>
            </a:r>
            <a:endParaRPr lang="en-US" sz="2600" dirty="0"/>
          </a:p>
        </p:txBody>
      </p:sp>
      <p:sp>
        <p:nvSpPr>
          <p:cNvPr id="28" name="Text 24"/>
          <p:cNvSpPr/>
          <p:nvPr/>
        </p:nvSpPr>
        <p:spPr>
          <a:xfrm>
            <a:off x="3483864" y="367588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First Alert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3483864" y="393192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on first risk alert within 24 hours of product activation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6172200" y="3090672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7"/>
          <p:cNvSpPr/>
          <p:nvPr/>
        </p:nvSpPr>
        <p:spPr>
          <a:xfrm>
            <a:off x="6336792" y="3218688"/>
            <a:ext cx="402336" cy="402336"/>
          </a:xfrm>
          <a:prstGeom prst="ellipse">
            <a:avLst/>
          </a:prstGeom>
          <a:solidFill>
            <a:srgbClr val="0A6B6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3255264"/>
            <a:ext cx="310896" cy="310896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848856" y="320040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6B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34" name="Text 29"/>
          <p:cNvSpPr/>
          <p:nvPr/>
        </p:nvSpPr>
        <p:spPr>
          <a:xfrm>
            <a:off x="6318504" y="367588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Frameworks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6318504" y="393192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compliance for SOX, MTD, GST, ZATCA and more, updated within 30 days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91947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Gokulnath Sundaramoorthy  ·  Microsoft Dynamics 365 Business Central Solution Architect  ·  v1.0  ·  June 2026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30936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Intelligence Capabilities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15214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Configurable, evidence-first and continuously active across Business Central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365760" cy="365760"/>
          </a:xfrm>
          <a:prstGeom prst="ellipse">
            <a:avLst/>
          </a:prstGeom>
          <a:solidFill>
            <a:srgbClr val="18293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78408" y="148132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Intelligence Controls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78408" y="1746504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rules across all 8 BC domains — Finance, AP, AR, Inventory, Manufacturing, Projects, Fixed Assets, Master Data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02920" y="2240280"/>
            <a:ext cx="41605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502920" y="2340864"/>
            <a:ext cx="365760" cy="365760"/>
          </a:xfrm>
          <a:prstGeom prst="ellipse">
            <a:avLst/>
          </a:prstGeom>
          <a:solidFill>
            <a:srgbClr val="0A6B6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37744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78408" y="2340864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Role-Specific AI Copilots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978408" y="260604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Audit, Finance, Supply Chain, Executive and Compliance Copilots — each grounded in your actual BC data via GPT-4o + RAG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02920" y="3099816"/>
            <a:ext cx="41605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502920" y="3200400"/>
            <a:ext cx="365760" cy="3657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236976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78408" y="320040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Market Intelligence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978408" y="3465576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movements, counterparty health signals, customer </a:t>
            </a:r>
          </a:p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changes and regulatory updates connected to your ERP positions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502920" y="3959352"/>
            <a:ext cx="41605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502920" y="4059936"/>
            <a:ext cx="365760" cy="36576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096512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78408" y="4059936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Intelligence (L5)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978408" y="432511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project cash-flow shortfalls, counterparty default probability, inventory shortages and margin trajectory in advance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4800600" y="1481328"/>
            <a:ext cx="365760" cy="365760"/>
          </a:xfrm>
          <a:prstGeom prst="ellipse">
            <a:avLst/>
          </a:prstGeom>
          <a:solidFill>
            <a:srgbClr val="18293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1517904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76088" y="148132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Evidence Packaging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5276088" y="1746504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packages formatted for external review — SOX, GDPR, GST, ZATCA and Big 4 audit methodology templates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4800600" y="2240280"/>
            <a:ext cx="41605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3"/>
          <p:cNvSpPr/>
          <p:nvPr/>
        </p:nvSpPr>
        <p:spPr>
          <a:xfrm>
            <a:off x="4800600" y="2340864"/>
            <a:ext cx="365760" cy="365760"/>
          </a:xfrm>
          <a:prstGeom prst="ellipse">
            <a:avLst/>
          </a:prstGeom>
          <a:solidFill>
            <a:srgbClr val="0A6B6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237744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276088" y="2340864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Configuration Engine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5276088" y="260604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control, threshold and escalation path configurable by business users — zero development effort required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4800600" y="3099816"/>
            <a:ext cx="41605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27"/>
          <p:cNvSpPr/>
          <p:nvPr/>
        </p:nvSpPr>
        <p:spPr>
          <a:xfrm>
            <a:off x="4800600" y="3200400"/>
            <a:ext cx="365760" cy="3657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320" y="3236976"/>
            <a:ext cx="274320" cy="27432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276088" y="320040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ERP Performance Impact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5276088" y="3465576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Azure processing via BC REST APIs ensures guaranteed zero impact on ERP transaction throughput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4800600" y="3959352"/>
            <a:ext cx="41605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1"/>
          <p:cNvSpPr/>
          <p:nvPr/>
        </p:nvSpPr>
        <p:spPr>
          <a:xfrm>
            <a:off x="4800600" y="4059936"/>
            <a:ext cx="365760" cy="36576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6320" y="4096512"/>
            <a:ext cx="274320" cy="27432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276088" y="4059936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Teams Notifications</a:t>
            </a:r>
            <a:endParaRPr lang="en-US" sz="1200" dirty="0"/>
          </a:p>
        </p:txBody>
      </p:sp>
      <p:sp>
        <p:nvSpPr>
          <p:cNvPr id="43" name="Text 33"/>
          <p:cNvSpPr/>
          <p:nvPr/>
        </p:nvSpPr>
        <p:spPr>
          <a:xfrm>
            <a:off x="5276088" y="432511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Card alerts with one-click acknowledge, triage and escalation delivered directly within Microsoft Teams</a:t>
            </a:r>
            <a:endParaRPr lang="en-US" sz="950" dirty="0"/>
          </a:p>
        </p:txBody>
      </p:sp>
      <p:sp>
        <p:nvSpPr>
          <p:cNvPr id="44" name="Shape 34"/>
          <p:cNvSpPr/>
          <p:nvPr/>
        </p:nvSpPr>
        <p:spPr>
          <a:xfrm>
            <a:off x="4480560" y="1417320"/>
            <a:ext cx="0" cy="338328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91947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Gokulnath Sundaramoorthy  ·  Microsoft Dynamics 365 Business Central Solution Architect  ·  v1.0  ·  June 2026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NATIVE EXPERIENCE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30936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Business Central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15214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Extension embedded directly in the daily Finance workflow — no additional portal required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120640" cy="2670048"/>
          </a:xfrm>
          <a:prstGeom prst="roundRect">
            <a:avLst>
              <a:gd name="adj" fmla="val 3425"/>
            </a:avLst>
          </a:prstGeom>
          <a:solidFill>
            <a:srgbClr val="E8F7F7"/>
          </a:solidFill>
          <a:ln w="19050">
            <a:solidFill>
              <a:srgbClr val="0F8B8D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51206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ROLE CENTER SCREENSHOT ]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3721608"/>
            <a:ext cx="5120640" cy="365760"/>
          </a:xfrm>
          <a:prstGeom prst="roundRect">
            <a:avLst>
              <a:gd name="adj" fmla="val 20000"/>
            </a:avLst>
          </a:prstGeom>
          <a:solidFill>
            <a:srgbClr val="18293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02920" y="37216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RIA Intelligence Dashboard — Finance Role Center</a:t>
            </a:r>
            <a:endParaRPr lang="en-US" sz="10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C2FDC83-DF48-F7C7-36FC-E1BA3F493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525" y="1517746"/>
            <a:ext cx="4782706" cy="21581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8">
            <a:extLst>
              <a:ext uri="{FF2B5EF4-FFF2-40B4-BE49-F238E27FC236}">
                <a16:creationId xmlns:a16="http://schemas.microsoft.com/office/drawing/2014/main" id="{0F97F03D-E2D5-1BF6-97FA-BD2089043CFF}"/>
              </a:ext>
            </a:extLst>
          </p:cNvPr>
          <p:cNvSpPr/>
          <p:nvPr/>
        </p:nvSpPr>
        <p:spPr>
          <a:xfrm>
            <a:off x="1280160" y="633047"/>
            <a:ext cx="6787662" cy="4030394"/>
          </a:xfrm>
          <a:prstGeom prst="roundRect">
            <a:avLst>
              <a:gd name="adj" fmla="val 8511"/>
            </a:avLst>
          </a:prstGeom>
          <a:solidFill>
            <a:srgbClr val="E8F7F7"/>
          </a:solidFill>
          <a:ln w="12700">
            <a:solidFill>
              <a:srgbClr val="0F8B8D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10">
            <a:extLst>
              <a:ext uri="{FF2B5EF4-FFF2-40B4-BE49-F238E27FC236}">
                <a16:creationId xmlns:a16="http://schemas.microsoft.com/office/drawing/2014/main" id="{C2815482-1B3C-B205-A84A-9C9FEFE91D0B}"/>
              </a:ext>
            </a:extLst>
          </p:cNvPr>
          <p:cNvSpPr/>
          <p:nvPr/>
        </p:nvSpPr>
        <p:spPr>
          <a:xfrm>
            <a:off x="2947181" y="4404290"/>
            <a:ext cx="3393831" cy="212169"/>
          </a:xfrm>
          <a:prstGeom prst="roundRect">
            <a:avLst>
              <a:gd name="adj" fmla="val 20588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0C22C790-69D9-7097-F4C9-1696B5F52404}"/>
              </a:ext>
            </a:extLst>
          </p:cNvPr>
          <p:cNvSpPr/>
          <p:nvPr/>
        </p:nvSpPr>
        <p:spPr>
          <a:xfrm>
            <a:off x="3066756" y="4390223"/>
            <a:ext cx="3216307" cy="195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Management &amp; Triage</a:t>
            </a:r>
            <a:endParaRPr lang="en-US" sz="9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0400F81-1A2F-8E3D-1D9A-682B169EE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322" y="1013812"/>
            <a:ext cx="6509687" cy="3235951"/>
          </a:xfrm>
          <a:prstGeom prst="rect">
            <a:avLst/>
          </a:prstGeom>
        </p:spPr>
      </p:pic>
      <p:sp>
        <p:nvSpPr>
          <p:cNvPr id="29" name="Text 1">
            <a:extLst>
              <a:ext uri="{FF2B5EF4-FFF2-40B4-BE49-F238E27FC236}">
                <a16:creationId xmlns:a16="http://schemas.microsoft.com/office/drawing/2014/main" id="{39288899-93A7-283D-C4AC-0098DA48E7AA}"/>
              </a:ext>
            </a:extLst>
          </p:cNvPr>
          <p:cNvSpPr/>
          <p:nvPr/>
        </p:nvSpPr>
        <p:spPr>
          <a:xfrm>
            <a:off x="355209" y="249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NATIVE EXPERIENCE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015818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A2C7E-AEE4-36B2-A148-4A6280677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8">
            <a:extLst>
              <a:ext uri="{FF2B5EF4-FFF2-40B4-BE49-F238E27FC236}">
                <a16:creationId xmlns:a16="http://schemas.microsoft.com/office/drawing/2014/main" id="{ACD1036E-E4CA-B7C9-05B3-7B1B339972BF}"/>
              </a:ext>
            </a:extLst>
          </p:cNvPr>
          <p:cNvSpPr/>
          <p:nvPr/>
        </p:nvSpPr>
        <p:spPr>
          <a:xfrm>
            <a:off x="1280160" y="633047"/>
            <a:ext cx="6787662" cy="4030394"/>
          </a:xfrm>
          <a:prstGeom prst="roundRect">
            <a:avLst>
              <a:gd name="adj" fmla="val 8511"/>
            </a:avLst>
          </a:prstGeom>
          <a:solidFill>
            <a:srgbClr val="E8F7F7"/>
          </a:solidFill>
          <a:ln w="12700">
            <a:solidFill>
              <a:srgbClr val="0F8B8D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10">
            <a:extLst>
              <a:ext uri="{FF2B5EF4-FFF2-40B4-BE49-F238E27FC236}">
                <a16:creationId xmlns:a16="http://schemas.microsoft.com/office/drawing/2014/main" id="{22D59E18-31C1-7E20-5FDF-A973736CF960}"/>
              </a:ext>
            </a:extLst>
          </p:cNvPr>
          <p:cNvSpPr/>
          <p:nvPr/>
        </p:nvSpPr>
        <p:spPr>
          <a:xfrm>
            <a:off x="2947181" y="4404290"/>
            <a:ext cx="3393831" cy="212169"/>
          </a:xfrm>
          <a:prstGeom prst="roundRect">
            <a:avLst>
              <a:gd name="adj" fmla="val 20588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81683EB1-B5E6-1778-3B35-68F3B3B6F510}"/>
              </a:ext>
            </a:extLst>
          </p:cNvPr>
          <p:cNvSpPr/>
          <p:nvPr/>
        </p:nvSpPr>
        <p:spPr>
          <a:xfrm>
            <a:off x="3066756" y="4390223"/>
            <a:ext cx="3216307" cy="195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Setup &amp; Configuration</a:t>
            </a:r>
            <a:endParaRPr lang="en-US" sz="950" dirty="0"/>
          </a:p>
        </p:txBody>
      </p:sp>
      <p:sp>
        <p:nvSpPr>
          <p:cNvPr id="29" name="Text 1">
            <a:extLst>
              <a:ext uri="{FF2B5EF4-FFF2-40B4-BE49-F238E27FC236}">
                <a16:creationId xmlns:a16="http://schemas.microsoft.com/office/drawing/2014/main" id="{C53FBBF1-7C52-B29E-A118-50B4A068E6B9}"/>
              </a:ext>
            </a:extLst>
          </p:cNvPr>
          <p:cNvSpPr/>
          <p:nvPr/>
        </p:nvSpPr>
        <p:spPr>
          <a:xfrm>
            <a:off x="355209" y="249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NATIVE EXPERIENCE</a:t>
            </a:r>
            <a:endParaRPr lang="en-US" sz="1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1103CA-0E98-E682-DFC3-BD3E33D30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573" y="869707"/>
            <a:ext cx="6480427" cy="3365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495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91947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Gokulnath Sundaramoorthy  ·  Microsoft Dynamics 365 Business Central Solution Architect  ·  v1.0  ·  June 2026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30936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Business Central to Intelligence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15214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steps — data to alert — running continuously in Microsoft Azure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584525" y="2523744"/>
            <a:ext cx="188105" cy="0"/>
          </a:xfrm>
          <a:prstGeom prst="line">
            <a:avLst/>
          </a:prstGeom>
          <a:noFill/>
          <a:ln w="1905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96973" y="1417320"/>
            <a:ext cx="987552" cy="2212848"/>
          </a:xfrm>
          <a:prstGeom prst="roundRect">
            <a:avLst>
              <a:gd name="adj" fmla="val 9259"/>
            </a:avLst>
          </a:prstGeom>
          <a:solidFill>
            <a:srgbClr val="18293F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71293" y="1545336"/>
            <a:ext cx="438912" cy="438912"/>
          </a:xfrm>
          <a:prstGeom prst="ellipse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71293" y="15453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1837" y="2093976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 Data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1837" y="2441448"/>
            <a:ext cx="8778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v2.0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Webhooks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60182" y="2523744"/>
            <a:ext cx="188105" cy="0"/>
          </a:xfrm>
          <a:prstGeom prst="line">
            <a:avLst/>
          </a:prstGeom>
          <a:noFill/>
          <a:ln w="1905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772630" y="1417320"/>
            <a:ext cx="987552" cy="2212848"/>
          </a:xfrm>
          <a:prstGeom prst="roundRect">
            <a:avLst>
              <a:gd name="adj" fmla="val 9259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046950" y="1545336"/>
            <a:ext cx="438912" cy="438912"/>
          </a:xfrm>
          <a:prstGeom prst="ellipse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046950" y="15453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827494" y="2093976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Lake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827494" y="2441448"/>
            <a:ext cx="8778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/ Silver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Gold Layers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935839" y="2523744"/>
            <a:ext cx="188105" cy="0"/>
          </a:xfrm>
          <a:prstGeom prst="line">
            <a:avLst/>
          </a:prstGeom>
          <a:noFill/>
          <a:ln w="1905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948287" y="1417320"/>
            <a:ext cx="987552" cy="2212848"/>
          </a:xfrm>
          <a:prstGeom prst="roundRect">
            <a:avLst>
              <a:gd name="adj" fmla="val 9259"/>
            </a:avLst>
          </a:prstGeom>
          <a:solidFill>
            <a:srgbClr val="1A4A72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222607" y="1545336"/>
            <a:ext cx="438912" cy="438912"/>
          </a:xfrm>
          <a:prstGeom prst="ellipse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222607" y="15453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003151" y="2093976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003151" y="2441448"/>
            <a:ext cx="8778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Configurable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111496" y="2523744"/>
            <a:ext cx="188105" cy="0"/>
          </a:xfrm>
          <a:prstGeom prst="line">
            <a:avLst/>
          </a:prstGeom>
          <a:noFill/>
          <a:ln w="1905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123944" y="1417320"/>
            <a:ext cx="987552" cy="2212848"/>
          </a:xfrm>
          <a:prstGeom prst="roundRect">
            <a:avLst>
              <a:gd name="adj" fmla="val 9259"/>
            </a:avLst>
          </a:prstGeom>
          <a:solidFill>
            <a:srgbClr val="0A6B6D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398264" y="1545336"/>
            <a:ext cx="438912" cy="438912"/>
          </a:xfrm>
          <a:prstGeom prst="ellipse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398264" y="15453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178808" y="2093976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178808" y="2441448"/>
            <a:ext cx="8778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Scoring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Prediction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287153" y="2523744"/>
            <a:ext cx="188105" cy="0"/>
          </a:xfrm>
          <a:prstGeom prst="line">
            <a:avLst/>
          </a:prstGeom>
          <a:noFill/>
          <a:ln w="1905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5299601" y="1417320"/>
            <a:ext cx="987552" cy="2212848"/>
          </a:xfrm>
          <a:prstGeom prst="roundRect">
            <a:avLst>
              <a:gd name="adj" fmla="val 9259"/>
            </a:avLst>
          </a:prstGeom>
          <a:solidFill>
            <a:srgbClr val="0F8B8D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5573921" y="1545336"/>
            <a:ext cx="438912" cy="438912"/>
          </a:xfrm>
          <a:prstGeom prst="ellipse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573921" y="15453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54465" y="2093976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Explain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354465" y="2441448"/>
            <a:ext cx="8778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+ RAG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Response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462810" y="2523744"/>
            <a:ext cx="188105" cy="0"/>
          </a:xfrm>
          <a:prstGeom prst="line">
            <a:avLst/>
          </a:prstGeom>
          <a:noFill/>
          <a:ln w="1905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6475258" y="1417320"/>
            <a:ext cx="987552" cy="2212848"/>
          </a:xfrm>
          <a:prstGeom prst="roundRect">
            <a:avLst>
              <a:gd name="adj" fmla="val 9259"/>
            </a:avLst>
          </a:prstGeom>
          <a:solidFill>
            <a:srgbClr val="2A8A6A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6749578" y="1545336"/>
            <a:ext cx="438912" cy="438912"/>
          </a:xfrm>
          <a:prstGeom prst="ellipse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749578" y="15453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530122" y="2093976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Delivery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530122" y="2441448"/>
            <a:ext cx="8778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 · Teams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· API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650915" y="1417320"/>
            <a:ext cx="987552" cy="2212848"/>
          </a:xfrm>
          <a:prstGeom prst="roundRect">
            <a:avLst>
              <a:gd name="adj" fmla="val 9259"/>
            </a:avLst>
          </a:prstGeom>
          <a:solidFill>
            <a:srgbClr val="18293F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7925235" y="1545336"/>
            <a:ext cx="438912" cy="438912"/>
          </a:xfrm>
          <a:prstGeom prst="ellipse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7925235" y="15453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705779" y="2093976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&amp; Improve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705779" y="2441448"/>
            <a:ext cx="8778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· Learn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Model Improves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02920" y="4645152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min detection for critical controls  ·  15-min incremental data sync  ·  99.9% uptime SLA  ·  Zero ERP performance impact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829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91947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Gokulnath Sundaramoorthy  ·  Microsoft Dynamics 365 Business Central Solution Architect  ·  v1.0  ·  June 2026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30936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Cloud-Native on Microsoft Azure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15214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direct BC database access  ·  Per-tenant data isolation  ·  SOC 2 Type II  ·  GDPR compliant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1956816" cy="3218688"/>
          </a:xfrm>
          <a:prstGeom prst="roundRect">
            <a:avLst>
              <a:gd name="adj" fmla="val 5607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blurRad="177800" dist="635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1572768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Central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21208" y="2084832"/>
            <a:ext cx="1737360" cy="475488"/>
          </a:xfrm>
          <a:prstGeom prst="roundRect">
            <a:avLst>
              <a:gd name="adj" fmla="val 13462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39496" y="2103120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v2.0+ / OData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21208" y="2706624"/>
            <a:ext cx="1737360" cy="475488"/>
          </a:xfrm>
          <a:prstGeom prst="roundRect">
            <a:avLst>
              <a:gd name="adj" fmla="val 13462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39496" y="2724912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Subscriptions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21208" y="3328416"/>
            <a:ext cx="1737360" cy="475488"/>
          </a:xfrm>
          <a:prstGeom prst="roundRect">
            <a:avLst>
              <a:gd name="adj" fmla="val 13462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39496" y="3346704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+ Azure AD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21208" y="3950208"/>
            <a:ext cx="1737360" cy="475488"/>
          </a:xfrm>
          <a:prstGeom prst="roundRect">
            <a:avLst>
              <a:gd name="adj" fmla="val 13462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39496" y="3968496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Extension (Presentation)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331720" y="2798064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532888" y="1508760"/>
            <a:ext cx="1956816" cy="3218688"/>
          </a:xfrm>
          <a:prstGeom prst="roundRect">
            <a:avLst>
              <a:gd name="adj" fmla="val 5607"/>
            </a:avLst>
          </a:prstGeom>
          <a:solidFill>
            <a:srgbClr val="0A6B6D"/>
          </a:solidFill>
          <a:ln w="12700">
            <a:solidFill>
              <a:srgbClr val="333333"/>
            </a:solidFill>
            <a:prstDash val="solid"/>
          </a:ln>
          <a:effectLst>
            <a:outerShdw blurRad="177800" dist="635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624328" y="1572768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Data Layer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642616" y="2084832"/>
            <a:ext cx="1737360" cy="475488"/>
          </a:xfrm>
          <a:prstGeom prst="roundRect">
            <a:avLst>
              <a:gd name="adj" fmla="val 13462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660904" y="2103120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Lakehouse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642616" y="2706624"/>
            <a:ext cx="1737360" cy="475488"/>
          </a:xfrm>
          <a:prstGeom prst="roundRect">
            <a:avLst>
              <a:gd name="adj" fmla="val 13462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660904" y="2724912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Data Factory (ADF)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642616" y="3328416"/>
            <a:ext cx="1737360" cy="475488"/>
          </a:xfrm>
          <a:prstGeom prst="roundRect">
            <a:avLst>
              <a:gd name="adj" fmla="val 13462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660904" y="3346704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/ Silver / Gold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642616" y="3950208"/>
            <a:ext cx="1737360" cy="475488"/>
          </a:xfrm>
          <a:prstGeom prst="roundRect">
            <a:avLst>
              <a:gd name="adj" fmla="val 13462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2660904" y="3968496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7-Year Audit Retention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453128" y="2798064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654296" y="1508760"/>
            <a:ext cx="1956816" cy="3218688"/>
          </a:xfrm>
          <a:prstGeom prst="roundRect">
            <a:avLst>
              <a:gd name="adj" fmla="val 5607"/>
            </a:avLst>
          </a:prstGeom>
          <a:solidFill>
            <a:srgbClr val="1A4A72"/>
          </a:solidFill>
          <a:ln w="12700">
            <a:solidFill>
              <a:srgbClr val="333333"/>
            </a:solidFill>
            <a:prstDash val="solid"/>
          </a:ln>
          <a:effectLst>
            <a:outerShdw blurRad="177800" dist="635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745736" y="1572768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Engine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764024" y="2084832"/>
            <a:ext cx="1737360" cy="475488"/>
          </a:xfrm>
          <a:prstGeom prst="roundRect">
            <a:avLst>
              <a:gd name="adj" fmla="val 13462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782312" y="2103120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Rule Engine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64024" y="2706624"/>
            <a:ext cx="1737360" cy="475488"/>
          </a:xfrm>
          <a:prstGeom prst="roundRect">
            <a:avLst>
              <a:gd name="adj" fmla="val 13462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782312" y="2724912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Machine Learning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64024" y="3328416"/>
            <a:ext cx="1737360" cy="475488"/>
          </a:xfrm>
          <a:prstGeom prst="roundRect">
            <a:avLst>
              <a:gd name="adj" fmla="val 13462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782312" y="3346704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+ RAG (Azure OAI)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64024" y="3950208"/>
            <a:ext cx="1737360" cy="475488"/>
          </a:xfrm>
          <a:prstGeom prst="roundRect">
            <a:avLst>
              <a:gd name="adj" fmla="val 13462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782312" y="3968496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Service Bus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574536" y="2798064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775704" y="1508760"/>
            <a:ext cx="1956816" cy="3218688"/>
          </a:xfrm>
          <a:prstGeom prst="roundRect">
            <a:avLst>
              <a:gd name="adj" fmla="val 5607"/>
            </a:avLst>
          </a:prstGeom>
          <a:solidFill>
            <a:srgbClr val="2A6A4A"/>
          </a:solidFill>
          <a:ln w="12700">
            <a:solidFill>
              <a:srgbClr val="333333"/>
            </a:solidFill>
            <a:prstDash val="solid"/>
          </a:ln>
          <a:effectLst>
            <a:outerShdw blurRad="177800" dist="635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867144" y="1572768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&amp; Access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885432" y="2084832"/>
            <a:ext cx="1737360" cy="475488"/>
          </a:xfrm>
          <a:prstGeom prst="roundRect">
            <a:avLst>
              <a:gd name="adj" fmla="val 13462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903720" y="2103120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 Role Center (AL)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885432" y="2706624"/>
            <a:ext cx="1737360" cy="475488"/>
          </a:xfrm>
          <a:prstGeom prst="roundRect">
            <a:avLst>
              <a:gd name="adj" fmla="val 13462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903720" y="2724912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885432" y="3328416"/>
            <a:ext cx="1737360" cy="475488"/>
          </a:xfrm>
          <a:prstGeom prst="roundRect">
            <a:avLst>
              <a:gd name="adj" fmla="val 13462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903720" y="3346704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Teams Alerts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885432" y="3950208"/>
            <a:ext cx="1737360" cy="475488"/>
          </a:xfrm>
          <a:prstGeom prst="roundRect">
            <a:avLst>
              <a:gd name="adj" fmla="val 13462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903720" y="3968496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Webhooks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91947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Gokulnath Sundaramoorthy  ·  Microsoft Dynamics 365 Business Central Solution Architect  ·  v1.0  ·  June 2026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30936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Phases to Full Intelligence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481328" y="2066544"/>
            <a:ext cx="7653528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1143000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8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26464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· Now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344168" y="2002536"/>
            <a:ext cx="274320" cy="274320"/>
          </a:xfrm>
          <a:prstGeom prst="ellipse">
            <a:avLst/>
          </a:prstGeom>
          <a:solidFill>
            <a:srgbClr val="18293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02920" y="2377440"/>
            <a:ext cx="1956816" cy="2377440"/>
          </a:xfrm>
          <a:prstGeom prst="roundRect">
            <a:avLst>
              <a:gd name="adj" fmla="val 4673"/>
            </a:avLst>
          </a:prstGeom>
          <a:solidFill>
            <a:srgbClr val="FFFFFF"/>
          </a:solidFill>
          <a:ln w="19050">
            <a:solidFill>
              <a:srgbClr val="18293F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02920" y="2377440"/>
            <a:ext cx="1956816" cy="365760"/>
          </a:xfrm>
          <a:prstGeom prst="roundRect">
            <a:avLst>
              <a:gd name="adj" fmla="val 25000"/>
            </a:avLst>
          </a:prstGeom>
          <a:solidFill>
            <a:srgbClr val="18293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02920" y="2578608"/>
            <a:ext cx="1956816" cy="164592"/>
          </a:xfrm>
          <a:prstGeom prst="rect">
            <a:avLst/>
          </a:prstGeom>
          <a:solidFill>
            <a:srgbClr val="18293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94360" y="2414016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MVP · Now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30936" y="2889504"/>
            <a:ext cx="91440" cy="91440"/>
          </a:xfrm>
          <a:prstGeom prst="ellipse">
            <a:avLst/>
          </a:prstGeom>
          <a:solidFill>
            <a:srgbClr val="18293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77240" y="2834640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L1 Controls — Finance, AP, AR, Inventory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30936" y="3364992"/>
            <a:ext cx="91440" cy="91440"/>
          </a:xfrm>
          <a:prstGeom prst="ellipse">
            <a:avLst/>
          </a:prstGeom>
          <a:solidFill>
            <a:srgbClr val="18293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77240" y="3310128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Finance Copilots (AI Agents)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30936" y="3840480"/>
            <a:ext cx="91440" cy="91440"/>
          </a:xfrm>
          <a:prstGeom prst="ellipse">
            <a:avLst/>
          </a:prstGeom>
          <a:solidFill>
            <a:srgbClr val="18293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77240" y="3785616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&amp; India Compliance Frameworks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30936" y="4315968"/>
            <a:ext cx="91440" cy="91440"/>
          </a:xfrm>
          <a:prstGeom prst="ellipse">
            <a:avLst/>
          </a:prstGeom>
          <a:solidFill>
            <a:srgbClr val="18293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77240" y="4261104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 Role Center + Power BI Dashboard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624328" y="1143000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624328" y="1426464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· H2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65576" y="2002536"/>
            <a:ext cx="274320" cy="27432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624328" y="2377440"/>
            <a:ext cx="1956816" cy="2377440"/>
          </a:xfrm>
          <a:prstGeom prst="roundRect">
            <a:avLst>
              <a:gd name="adj" fmla="val 4673"/>
            </a:avLst>
          </a:prstGeom>
          <a:solidFill>
            <a:srgbClr val="FFFFFF"/>
          </a:solidFill>
          <a:ln w="19050">
            <a:solidFill>
              <a:srgbClr val="1E3A5F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624328" y="2377440"/>
            <a:ext cx="1956816" cy="365760"/>
          </a:xfrm>
          <a:prstGeom prst="roundRect">
            <a:avLst>
              <a:gd name="adj" fmla="val 25000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2624328" y="2578608"/>
            <a:ext cx="1956816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715768" y="2414016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Year 1 · H2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52344" y="2889504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898648" y="2834640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44 L1 Controls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52344" y="3364992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2898648" y="3310128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AI Copilot Agents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52344" y="384048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2898648" y="3785616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Process Intelligence (P2P, Q2C, R2R)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52344" y="4315968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2898648" y="4261104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Integration + Alert Management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45736" y="1143000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6B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745736" y="1426464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 · Q1–Q2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586984" y="2002536"/>
            <a:ext cx="274320" cy="274320"/>
          </a:xfrm>
          <a:prstGeom prst="ellipse">
            <a:avLst/>
          </a:prstGeom>
          <a:solidFill>
            <a:srgbClr val="0A6B6D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745736" y="2377440"/>
            <a:ext cx="1956816" cy="2377440"/>
          </a:xfrm>
          <a:prstGeom prst="roundRect">
            <a:avLst>
              <a:gd name="adj" fmla="val 4673"/>
            </a:avLst>
          </a:prstGeom>
          <a:solidFill>
            <a:srgbClr val="FFFFFF"/>
          </a:solidFill>
          <a:ln w="19050">
            <a:solidFill>
              <a:srgbClr val="0A6B6D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745736" y="2377440"/>
            <a:ext cx="1956816" cy="365760"/>
          </a:xfrm>
          <a:prstGeom prst="roundRect">
            <a:avLst>
              <a:gd name="adj" fmla="val 25000"/>
            </a:avLst>
          </a:prstGeom>
          <a:solidFill>
            <a:srgbClr val="0A6B6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4745736" y="2578608"/>
            <a:ext cx="1956816" cy="164592"/>
          </a:xfrm>
          <a:prstGeom prst="rect">
            <a:avLst/>
          </a:prstGeom>
          <a:solidFill>
            <a:srgbClr val="0A6B6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837176" y="2414016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Year 2 · Q1–Q2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873752" y="2889504"/>
            <a:ext cx="91440" cy="91440"/>
          </a:xfrm>
          <a:prstGeom prst="ellipse">
            <a:avLst/>
          </a:prstGeom>
          <a:solidFill>
            <a:srgbClr val="0A6B6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5020056" y="2834640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Configuration Intelligence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873752" y="3364992"/>
            <a:ext cx="91440" cy="91440"/>
          </a:xfrm>
          <a:prstGeom prst="ellipse">
            <a:avLst/>
          </a:prstGeom>
          <a:solidFill>
            <a:srgbClr val="0A6B6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5020056" y="3310128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External Market Intelligence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873752" y="3840480"/>
            <a:ext cx="91440" cy="91440"/>
          </a:xfrm>
          <a:prstGeom prst="ellipse">
            <a:avLst/>
          </a:prstGeom>
          <a:solidFill>
            <a:srgbClr val="0A6B6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5020056" y="3785616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USA, Saudi Arabia &amp; UAE Compliance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73752" y="4315968"/>
            <a:ext cx="91440" cy="91440"/>
          </a:xfrm>
          <a:prstGeom prst="ellipse">
            <a:avLst/>
          </a:prstGeom>
          <a:solidFill>
            <a:srgbClr val="0A6B6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5020056" y="4261104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Tier + Custom Control Builder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867144" y="1143000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8B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867144" y="1426464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 · Q3–Q4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708392" y="2002536"/>
            <a:ext cx="274320" cy="274320"/>
          </a:xfrm>
          <a:prstGeom prst="ellipse">
            <a:avLst/>
          </a:prstGeom>
          <a:solidFill>
            <a:srgbClr val="0F8B8D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6867144" y="2377440"/>
            <a:ext cx="1956816" cy="2377440"/>
          </a:xfrm>
          <a:prstGeom prst="roundRect">
            <a:avLst>
              <a:gd name="adj" fmla="val 4673"/>
            </a:avLst>
          </a:prstGeom>
          <a:solidFill>
            <a:srgbClr val="FFFFFF"/>
          </a:solidFill>
          <a:ln w="19050">
            <a:solidFill>
              <a:srgbClr val="0F8B8D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6867144" y="2377440"/>
            <a:ext cx="1956816" cy="365760"/>
          </a:xfrm>
          <a:prstGeom prst="roundRect">
            <a:avLst>
              <a:gd name="adj" fmla="val 25000"/>
            </a:avLst>
          </a:prstGeom>
          <a:solidFill>
            <a:srgbClr val="0F8B8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867144" y="2578608"/>
            <a:ext cx="1956816" cy="164592"/>
          </a:xfrm>
          <a:prstGeom prst="rect">
            <a:avLst/>
          </a:prstGeom>
          <a:solidFill>
            <a:srgbClr val="0F8B8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6958584" y="2414016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 ·  Year 2 · Q3–Q4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995160" y="2889504"/>
            <a:ext cx="91440" cy="9144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7141464" y="2834640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 Predictive Intelligence (all 7 models)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995160" y="3364992"/>
            <a:ext cx="91440" cy="9144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7141464" y="3310128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 &amp; Canada Compliance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995160" y="3840480"/>
            <a:ext cx="91440" cy="9144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7141464" y="3785616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Co-Sell Activation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995160" y="4315968"/>
            <a:ext cx="91440" cy="9144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7141464" y="4261104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Platform + API Integration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91947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Gokulnath Sundaramoorthy  ·  Microsoft Dynamics 365 Business Central Solution Architect  ·  v1.0  ·  June 2026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12344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CHOOSE RIA?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73730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Only 5-Layer Intelligence Platform for Business Central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15214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depth that no Microsoft-native feature or generic AI tool replicates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749040" cy="3419856"/>
          </a:xfrm>
          <a:prstGeom prst="roundRect">
            <a:avLst>
              <a:gd name="adj" fmla="val 3209"/>
            </a:avLst>
          </a:prstGeom>
          <a:solidFill>
            <a:srgbClr val="FEF3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85216" y="1499616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RIA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85216" y="1938528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Risk exposures surface months after they have already occurred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85216" y="2386584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Audit preparation consumes weeks of manual evidence gathering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85216" y="2834640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ERP configuration drift goes undetected until damage is done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85216" y="3282696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external market signals connected to your ERP environment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5216" y="3730752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predictive intelligence layer to pre-empt financial exposure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85216" y="4178808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Generic AI with no grounding in your actual BC transaction data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37760" y="1417320"/>
            <a:ext cx="3749040" cy="3419856"/>
          </a:xfrm>
          <a:prstGeom prst="roundRect">
            <a:avLst>
              <a:gd name="adj" fmla="val 3209"/>
            </a:avLst>
          </a:prstGeom>
          <a:solidFill>
            <a:srgbClr val="E8F7F7"/>
          </a:solidFill>
          <a:ln w="12700">
            <a:solidFill>
              <a:srgbClr val="99E6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065776" y="1499616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6B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RIA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65776" y="1938528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Critical anomalies surfaced in under 5 minutes via real-time monitoring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65776" y="2386584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Audit-ready evidence packages generated on demand in minutes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65776" y="2834640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Real-time configuration change detection with immediate escalation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65776" y="3282696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L4 External Intelligence connects your ERP to real-world signals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65776" y="3730752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L5 ML models identify emerging risk weeks before financial impact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65776" y="4178808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Six role-specific Copilots grounded in your actual Business Central data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206240" y="2788920"/>
            <a:ext cx="731520" cy="731520"/>
          </a:xfrm>
          <a:prstGeom prst="ellipse">
            <a:avLst/>
          </a:prstGeom>
          <a:solidFill>
            <a:srgbClr val="18293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206240" y="2788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829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731520"/>
            <a:ext cx="3474720" cy="34747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498080" y="2011680"/>
            <a:ext cx="2286000" cy="2286000"/>
          </a:xfrm>
          <a:prstGeom prst="ellipse">
            <a:avLst/>
          </a:prstGeom>
          <a:solidFill>
            <a:srgbClr val="0F8B8D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2157984"/>
            <a:ext cx="1828800" cy="36576"/>
          </a:xfrm>
          <a:prstGeom prst="rect">
            <a:avLst/>
          </a:prstGeom>
          <a:solidFill>
            <a:srgbClr val="0F8B8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228600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Gokulnath Sundaramoorthy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2679192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Lead Consultant — Microsoft Dynamics 365 Business Central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309067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7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  Email: </a:t>
            </a:r>
            <a:r>
              <a:rPr lang="en-US" sz="1150" dirty="0">
                <a:solidFill>
                  <a:srgbClr val="7090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Gokulssv@yahoo.com</a:t>
            </a:r>
            <a:r>
              <a:rPr lang="en-US" sz="1150" dirty="0">
                <a:solidFill>
                  <a:srgbClr val="7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3474720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7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LinkedIn:  [linkedin.com/in/</a:t>
            </a:r>
            <a:r>
              <a:rPr lang="en-US" sz="1150" dirty="0" err="1">
                <a:solidFill>
                  <a:srgbClr val="7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Gokulssv</a:t>
            </a:r>
            <a:r>
              <a:rPr lang="en-US" sz="1150" dirty="0">
                <a:solidFill>
                  <a:srgbClr val="7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766560" y="171907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1347</Words>
  <Application>Microsoft Office PowerPoint</Application>
  <PresentationFormat>On-screen Show (16:9)</PresentationFormat>
  <Paragraphs>229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Intelligence Agent (RIA) — Cetas Technology</dc:title>
  <dc:subject>PptxGenJS Presentation</dc:subject>
  <dc:creator>Gokulnath Sundaramoorthy</dc:creator>
  <cp:lastModifiedBy>Gokulnath S</cp:lastModifiedBy>
  <cp:revision>5</cp:revision>
  <dcterms:created xsi:type="dcterms:W3CDTF">2026-07-09T12:06:11Z</dcterms:created>
  <dcterms:modified xsi:type="dcterms:W3CDTF">2026-08-06T06:01:44Z</dcterms:modified>
</cp:coreProperties>
</file>